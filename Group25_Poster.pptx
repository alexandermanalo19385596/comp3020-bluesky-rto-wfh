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8" d="100"/>
          <a:sy n="28" d="100"/>
        </p:scale>
        <p:origin x="29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4455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RTO</c:v>
                </c:pt>
                <c:pt idx="1">
                  <c:v>WFH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26.8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9-DA45-A26E-569D7EE1D4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5F6B7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RTO</c:v>
                </c:pt>
                <c:pt idx="1">
                  <c:v>WFH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11.5</c:v>
                </c:pt>
                <c:pt idx="1">
                  <c:v>17.8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49-DA45-A26E-569D7EE1D4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F7F8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RTO</c:v>
                </c:pt>
                <c:pt idx="1">
                  <c:v>WFH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36.6</c:v>
                </c:pt>
                <c:pt idx="1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49-DA45-A26E-569D7EE1D44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20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200" b="1" i="0" u="none" strike="noStrike">
                <a:solidFill>
                  <a:srgbClr val="B4455C"/>
                </a:solidFill>
                <a:latin typeface="+mn-lt"/>
              </a:defRPr>
            </a:pPr>
            <a:r>
              <a:rPr lang="en-AU" sz="2200" b="1" i="0" u="none" strike="noStrike">
                <a:solidFill>
                  <a:srgbClr val="B4455C"/>
                </a:solidFill>
                <a:latin typeface="+mn-lt"/>
              </a:rPr>
              <a:t>RTO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RTO</c:v>
                </c:pt>
              </c:strCache>
            </c:strRef>
          </c:tx>
          <c:spPr>
            <a:solidFill>
              <a:srgbClr val="B4455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trump</c:v>
                </c:pt>
                <c:pt idx="1">
                  <c:v>people</c:v>
                </c:pt>
                <c:pt idx="2">
                  <c:v>policy</c:v>
                </c:pt>
                <c:pt idx="3">
                  <c:v>mandates</c:v>
                </c:pt>
                <c:pt idx="4">
                  <c:v>employees</c:v>
                </c:pt>
                <c:pt idx="5">
                  <c:v>mandate</c:v>
                </c:pt>
                <c:pt idx="6">
                  <c:v>congress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8.4</c:v>
                </c:pt>
                <c:pt idx="1">
                  <c:v>7.5</c:v>
                </c:pt>
                <c:pt idx="2">
                  <c:v>7.3</c:v>
                </c:pt>
                <c:pt idx="3">
                  <c:v>6.7</c:v>
                </c:pt>
                <c:pt idx="4">
                  <c:v>5.4</c:v>
                </c:pt>
                <c:pt idx="5">
                  <c:v>5.4</c:v>
                </c:pt>
                <c:pt idx="6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CB-164D-A37F-AEACE4C25A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200" b="1" i="0" u="none" strike="noStrike">
                <a:solidFill>
                  <a:srgbClr val="1F7F8E"/>
                </a:solidFill>
                <a:latin typeface="+mn-lt"/>
              </a:defRPr>
            </a:pPr>
            <a:r>
              <a:rPr lang="en-AU" sz="2200" b="1" i="0" u="none" strike="noStrike">
                <a:solidFill>
                  <a:srgbClr val="1F7F8E"/>
                </a:solidFill>
                <a:latin typeface="+mn-lt"/>
              </a:rPr>
              <a:t>WFH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WFH</c:v>
                </c:pt>
              </c:strCache>
            </c:strRef>
          </c:tx>
          <c:spPr>
            <a:solidFill>
              <a:srgbClr val="1F7F8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job</c:v>
                </c:pt>
                <c:pt idx="1">
                  <c:v>jobs</c:v>
                </c:pt>
                <c:pt idx="2">
                  <c:v>time</c:v>
                </c:pt>
                <c:pt idx="3">
                  <c:v>people</c:v>
                </c:pt>
                <c:pt idx="4">
                  <c:v>day</c:v>
                </c:pt>
                <c:pt idx="5">
                  <c:v>ai</c:v>
                </c:pt>
                <c:pt idx="6">
                  <c:v>disabled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9.3000000000000007</c:v>
                </c:pt>
                <c:pt idx="1">
                  <c:v>8.1</c:v>
                </c:pt>
                <c:pt idx="2">
                  <c:v>7.6</c:v>
                </c:pt>
                <c:pt idx="3">
                  <c:v>7</c:v>
                </c:pt>
                <c:pt idx="4">
                  <c:v>5.9</c:v>
                </c:pt>
                <c:pt idx="5">
                  <c:v>5.6</c:v>
                </c:pt>
                <c:pt idx="6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33-CB4E-96A2-8F22810A50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25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hyperlink" Target="https://github.com/AlexanderManalo19385596/comp3020-bluesky-rto-wf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ter title"/>
          <p:cNvSpPr txBox="1"/>
          <p:nvPr/>
        </p:nvSpPr>
        <p:spPr>
          <a:xfrm>
            <a:off x="914400" y="731520"/>
            <a:ext cx="1499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work vs return to office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Bluesky</a:t>
            </a:r>
            <a:endParaRPr lang="en-US" sz="6400" dirty="0"/>
          </a:p>
        </p:txBody>
      </p:sp>
      <p:sp>
        <p:nvSpPr>
          <p:cNvPr id="3" name="Poster subtitle"/>
          <p:cNvSpPr txBox="1"/>
          <p:nvPr/>
        </p:nvSpPr>
        <p:spPr>
          <a:xfrm>
            <a:off x="914400" y="2788920"/>
            <a:ext cx="1517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posts from the two searches differ in sentiment, vocabulary and reply structure?</a:t>
            </a:r>
            <a:endParaRPr lang="en-US" sz="2800" dirty="0"/>
          </a:p>
        </p:txBody>
      </p:sp>
      <p:sp>
        <p:nvSpPr>
          <p:cNvPr id="4" name="Authors"/>
          <p:cNvSpPr txBox="1"/>
          <p:nvPr/>
        </p:nvSpPr>
        <p:spPr>
          <a:xfrm>
            <a:off x="914400" y="3611880"/>
            <a:ext cx="195553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25: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William Kilpatrick (20146450)  |  Alexander Manalo (19385596)  |  Manraj Singh (22117527)</a:t>
            </a:r>
            <a:r>
              <a:rPr lang="en-US" sz="2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COMP3020 Social Web Analytics</a:t>
            </a:r>
            <a:endParaRPr lang="en-US" sz="2200" dirty="0"/>
          </a:p>
        </p:txBody>
      </p:sp>
      <p:sp>
        <p:nvSpPr>
          <p:cNvPr id="6" name="Research questions card"/>
          <p:cNvSpPr/>
          <p:nvPr/>
        </p:nvSpPr>
        <p:spPr>
          <a:xfrm>
            <a:off x="914400" y="4526280"/>
            <a:ext cx="11338560" cy="438912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Q heading"/>
          <p:cNvSpPr txBox="1"/>
          <p:nvPr/>
        </p:nvSpPr>
        <p:spPr>
          <a:xfrm>
            <a:off x="1280160" y="4709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8" name="Research questions list"/>
          <p:cNvSpPr txBox="1"/>
          <p:nvPr/>
        </p:nvSpPr>
        <p:spPr>
          <a:xfrm>
            <a:off x="1280160" y="5532120"/>
            <a:ext cx="1060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200" indent="-330200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sentiment categories compare between the return-to-office and remote-work search groups?</a:t>
            </a:r>
            <a:endParaRPr lang="en-US" sz="2400" dirty="0"/>
          </a:p>
          <a:p>
            <a:pPr marL="330200" indent="-330200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vocabulary characterises the English-labelled RTO and WFH search results?</a:t>
            </a:r>
            <a:endParaRPr lang="en-US" sz="2400" dirty="0"/>
          </a:p>
          <a:p>
            <a:pPr marL="330200" indent="-330200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English-labelled search results form distinct vocabulary clusters, and how are the two search groups distributed across them?</a:t>
            </a:r>
            <a:endParaRPr lang="en-US" sz="2400" dirty="0"/>
          </a:p>
          <a:p>
            <a:pPr marL="330200" indent="-330200">
              <a:buSzPct val="100000"/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</a:t>
            </a: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accounts interact through replies around our three selected posts?</a:t>
            </a:r>
            <a:endParaRPr lang="en-US" sz="2400" dirty="0"/>
          </a:p>
        </p:txBody>
      </p:sp>
      <p:sp>
        <p:nvSpPr>
          <p:cNvPr id="9" name="Data card"/>
          <p:cNvSpPr/>
          <p:nvPr/>
        </p:nvSpPr>
        <p:spPr>
          <a:xfrm>
            <a:off x="12618720" y="4526280"/>
            <a:ext cx="7851038" cy="438912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ata heading"/>
          <p:cNvSpPr txBox="1"/>
          <p:nvPr/>
        </p:nvSpPr>
        <p:spPr>
          <a:xfrm>
            <a:off x="12984480" y="4709160"/>
            <a:ext cx="71195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methods</a:t>
            </a:r>
            <a:endParaRPr lang="en-US" sz="3200" dirty="0"/>
          </a:p>
        </p:txBody>
      </p:sp>
      <p:sp>
        <p:nvSpPr>
          <p:cNvPr id="11" name="Stat tile 1"/>
          <p:cNvSpPr/>
          <p:nvPr/>
        </p:nvSpPr>
        <p:spPr>
          <a:xfrm>
            <a:off x="12984480" y="5532120"/>
            <a:ext cx="2190293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 value 1"/>
          <p:cNvSpPr txBox="1"/>
          <p:nvPr/>
        </p:nvSpPr>
        <p:spPr>
          <a:xfrm>
            <a:off x="12984480" y="5550408"/>
            <a:ext cx="21902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1,137</a:t>
            </a:r>
            <a:endParaRPr lang="en-US" sz="3800" dirty="0"/>
          </a:p>
        </p:txBody>
      </p:sp>
      <p:sp>
        <p:nvSpPr>
          <p:cNvPr id="13" name="Stat label 1"/>
          <p:cNvSpPr txBox="1"/>
          <p:nvPr/>
        </p:nvSpPr>
        <p:spPr>
          <a:xfrm>
            <a:off x="12984480" y="6217920"/>
            <a:ext cx="2190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posts</a:t>
            </a:r>
            <a:endParaRPr lang="en-US" sz="1800" dirty="0"/>
          </a:p>
        </p:txBody>
      </p:sp>
      <p:sp>
        <p:nvSpPr>
          <p:cNvPr id="14" name="Stat tile 2"/>
          <p:cNvSpPr/>
          <p:nvPr/>
        </p:nvSpPr>
        <p:spPr>
          <a:xfrm>
            <a:off x="15449093" y="5532120"/>
            <a:ext cx="2190293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at value 2"/>
          <p:cNvSpPr txBox="1"/>
          <p:nvPr/>
        </p:nvSpPr>
        <p:spPr>
          <a:xfrm>
            <a:off x="15449093" y="5550408"/>
            <a:ext cx="21902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727</a:t>
            </a:r>
            <a:endParaRPr lang="en-US" sz="3800" dirty="0"/>
          </a:p>
        </p:txBody>
      </p:sp>
      <p:sp>
        <p:nvSpPr>
          <p:cNvPr id="16" name="Stat label 2"/>
          <p:cNvSpPr txBox="1"/>
          <p:nvPr/>
        </p:nvSpPr>
        <p:spPr>
          <a:xfrm>
            <a:off x="15449093" y="6217920"/>
            <a:ext cx="2190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English-labelled</a:t>
            </a:r>
            <a:endParaRPr lang="en-US" sz="1800" dirty="0"/>
          </a:p>
        </p:txBody>
      </p:sp>
      <p:sp>
        <p:nvSpPr>
          <p:cNvPr id="17" name="Stat tile 3"/>
          <p:cNvSpPr/>
          <p:nvPr/>
        </p:nvSpPr>
        <p:spPr>
          <a:xfrm>
            <a:off x="17913706" y="5532120"/>
            <a:ext cx="2190293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at value 3"/>
          <p:cNvSpPr txBox="1"/>
          <p:nvPr/>
        </p:nvSpPr>
        <p:spPr>
          <a:xfrm>
            <a:off x="17913706" y="5550408"/>
            <a:ext cx="21902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Stat label 3"/>
          <p:cNvSpPr txBox="1"/>
          <p:nvPr/>
        </p:nvSpPr>
        <p:spPr>
          <a:xfrm>
            <a:off x="17913706" y="6217920"/>
            <a:ext cx="2190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</a:t>
            </a:r>
            <a:endParaRPr lang="en-US" sz="1800" dirty="0"/>
          </a:p>
        </p:txBody>
      </p:sp>
      <p:sp>
        <p:nvSpPr>
          <p:cNvPr id="20" name="Data and methods text"/>
          <p:cNvSpPr txBox="1"/>
          <p:nvPr/>
        </p:nvSpPr>
        <p:spPr>
          <a:xfrm>
            <a:off x="12984480" y="6949440"/>
            <a:ext cx="71195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search via R (atrrr). “return to office” (RTO) and “remote work” (WFH), latest posts, 25 Aug to 29 Sep 2026.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Bing-lexicon sentiment with chi-squared test, word frequencies, TF-IDF with k-means, reply network (igraph).</a:t>
            </a:r>
            <a:endParaRPr lang="en-US" sz="2200" dirty="0"/>
          </a:p>
        </p:txBody>
      </p:sp>
      <p:sp>
        <p:nvSpPr>
          <p:cNvPr id="21" name="Key finding card"/>
          <p:cNvSpPr/>
          <p:nvPr/>
        </p:nvSpPr>
        <p:spPr>
          <a:xfrm>
            <a:off x="914400" y="9189720"/>
            <a:ext cx="19555358" cy="1965960"/>
          </a:xfrm>
          <a:prstGeom prst="roundRect">
            <a:avLst>
              <a:gd name="adj" fmla="val 837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Key finding text"/>
          <p:cNvSpPr txBox="1"/>
          <p:nvPr/>
        </p:nvSpPr>
        <p:spPr>
          <a:xfrm>
            <a:off x="1417320" y="9326880"/>
            <a:ext cx="185495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 </a:t>
            </a:r>
            <a:r>
              <a:rPr lang="en-US" sz="3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RTO-search posts were more negative than remote-work-search posts (52.0% vs 26.8% negative, p &lt; .001). But the two searches retrieve different kinds of posts, so this does not show what people prefer.</a:t>
            </a:r>
            <a:endParaRPr lang="en-US" sz="2400" dirty="0"/>
          </a:p>
        </p:txBody>
      </p:sp>
      <p:sp>
        <p:nvSpPr>
          <p:cNvPr id="23" name="Sentiment panel"/>
          <p:cNvSpPr/>
          <p:nvPr/>
        </p:nvSpPr>
        <p:spPr>
          <a:xfrm>
            <a:off x="914400" y="11430000"/>
            <a:ext cx="9594799" cy="5852160"/>
          </a:xfrm>
          <a:prstGeom prst="roundRect">
            <a:avLst>
              <a:gd name="adj" fmla="val 28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entiment number"/>
          <p:cNvSpPr txBox="1"/>
          <p:nvPr/>
        </p:nvSpPr>
        <p:spPr>
          <a:xfrm>
            <a:off x="1234440" y="116586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Sentiment title"/>
          <p:cNvSpPr txBox="1"/>
          <p:nvPr/>
        </p:nvSpPr>
        <p:spPr>
          <a:xfrm>
            <a:off x="2103120" y="11612880"/>
            <a:ext cx="8131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differs by search group</a:t>
            </a:r>
            <a:endParaRPr lang="en-US" sz="3200" dirty="0"/>
          </a:p>
        </p:txBody>
      </p:sp>
      <p:graphicFrame>
        <p:nvGraphicFramePr>
          <p:cNvPr id="26" name="Sentiment chart" descr="Stacked bar chart: RTO posts 52.0% negative, 11.5% neutral, 36.6% positive; WFH posts 26.8% negative, 17.8% neutral, 55.4% positive"/>
          <p:cNvGraphicFramePr/>
          <p:nvPr/>
        </p:nvGraphicFramePr>
        <p:xfrm>
          <a:off x="1234440" y="12435840"/>
          <a:ext cx="8954719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entiment text"/>
          <p:cNvSpPr txBox="1"/>
          <p:nvPr/>
        </p:nvSpPr>
        <p:spPr>
          <a:xfrm>
            <a:off x="1234440" y="15041880"/>
            <a:ext cx="895471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= 36.39, df = 2, p &lt; .001; Cramér’s V = 0.26 (small to moderate)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words were removed from the dictionary first. Left in, V = 0.46, because “work” scores as positive.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association, not a cause.</a:t>
            </a:r>
            <a:endParaRPr lang="en-US" sz="2200" dirty="0"/>
          </a:p>
        </p:txBody>
      </p:sp>
      <p:sp>
        <p:nvSpPr>
          <p:cNvPr id="28" name="Vocabulary panel"/>
          <p:cNvSpPr/>
          <p:nvPr/>
        </p:nvSpPr>
        <p:spPr>
          <a:xfrm>
            <a:off x="10874959" y="11430000"/>
            <a:ext cx="9594799" cy="5852160"/>
          </a:xfrm>
          <a:prstGeom prst="roundRect">
            <a:avLst>
              <a:gd name="adj" fmla="val 28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Vocabulary number"/>
          <p:cNvSpPr txBox="1"/>
          <p:nvPr/>
        </p:nvSpPr>
        <p:spPr>
          <a:xfrm>
            <a:off x="11194999" y="116586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0" name="Vocabulary title"/>
          <p:cNvSpPr txBox="1"/>
          <p:nvPr/>
        </p:nvSpPr>
        <p:spPr>
          <a:xfrm>
            <a:off x="12063679" y="11612880"/>
            <a:ext cx="8131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words stand out</a:t>
            </a:r>
            <a:endParaRPr lang="en-US" sz="3200" dirty="0"/>
          </a:p>
        </p:txBody>
      </p:sp>
      <p:graphicFrame>
        <p:nvGraphicFramePr>
          <p:cNvPr id="31" name="RTO words chart" descr="Top words by percentage of posts for the RTO search group"/>
          <p:cNvGraphicFramePr/>
          <p:nvPr/>
        </p:nvGraphicFramePr>
        <p:xfrm>
          <a:off x="11194999" y="12390120"/>
          <a:ext cx="4385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WFH words chart" descr="Top words by percentage of posts for the WFH search group"/>
          <p:cNvGraphicFramePr/>
          <p:nvPr/>
        </p:nvGraphicFramePr>
        <p:xfrm>
          <a:off x="15763799" y="12390120"/>
          <a:ext cx="4385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Vocabulary text"/>
          <p:cNvSpPr txBox="1"/>
          <p:nvPr/>
        </p:nvSpPr>
        <p:spPr>
          <a:xfrm>
            <a:off x="11194999" y="15270480"/>
            <a:ext cx="89547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7.3%, mandates 6.7%, employees 5.4% of posts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WFH: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9.3%, jobs 8.1%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 % of posts containing the word (search words excluded).</a:t>
            </a:r>
            <a:endParaRPr lang="en-US" sz="2200" dirty="0"/>
          </a:p>
        </p:txBody>
      </p:sp>
      <p:sp>
        <p:nvSpPr>
          <p:cNvPr id="34" name="Clusters panel"/>
          <p:cNvSpPr/>
          <p:nvPr/>
        </p:nvSpPr>
        <p:spPr>
          <a:xfrm>
            <a:off x="914400" y="17556480"/>
            <a:ext cx="9594799" cy="5852160"/>
          </a:xfrm>
          <a:prstGeom prst="roundRect">
            <a:avLst>
              <a:gd name="adj" fmla="val 28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lusters number"/>
          <p:cNvSpPr txBox="1"/>
          <p:nvPr/>
        </p:nvSpPr>
        <p:spPr>
          <a:xfrm>
            <a:off x="1234440" y="17785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6" name="Clusters title"/>
          <p:cNvSpPr txBox="1"/>
          <p:nvPr/>
        </p:nvSpPr>
        <p:spPr>
          <a:xfrm>
            <a:off x="2103120" y="17739360"/>
            <a:ext cx="8131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themes, mostly repeats</a:t>
            </a:r>
            <a:endParaRPr lang="en-US" sz="3200" dirty="0"/>
          </a:p>
        </p:txBody>
      </p:sp>
      <p:graphicFrame>
        <p:nvGraphicFramePr>
          <p:cNvPr id="37" name="Clus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8562320"/>
          <a:ext cx="8954719" cy="27432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/ WFH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contains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 / 315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remainder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political news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appeals for help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Remote-job referral adverts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auto-industry news story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Clusters text"/>
          <p:cNvSpPr txBox="1"/>
          <p:nvPr/>
        </p:nvSpPr>
        <p:spPr>
          <a:xfrm>
            <a:off x="1234440" y="21488400"/>
            <a:ext cx="89547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 of 700 posts (91.7%) 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in one mixed cluster. The four small clusters are repeated messages, each from one search group.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was an exploratory choice; the elbow plot had no clear bend.</a:t>
            </a:r>
            <a:endParaRPr lang="en-US" sz="2200" dirty="0"/>
          </a:p>
        </p:txBody>
      </p:sp>
      <p:sp>
        <p:nvSpPr>
          <p:cNvPr id="39" name="Network panel"/>
          <p:cNvSpPr/>
          <p:nvPr/>
        </p:nvSpPr>
        <p:spPr>
          <a:xfrm>
            <a:off x="10874959" y="17556480"/>
            <a:ext cx="9594799" cy="5852160"/>
          </a:xfrm>
          <a:prstGeom prst="roundRect">
            <a:avLst>
              <a:gd name="adj" fmla="val 28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Network number"/>
          <p:cNvSpPr txBox="1"/>
          <p:nvPr/>
        </p:nvSpPr>
        <p:spPr>
          <a:xfrm>
            <a:off x="11194999" y="17785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1" name="Network title"/>
          <p:cNvSpPr txBox="1"/>
          <p:nvPr/>
        </p:nvSpPr>
        <p:spPr>
          <a:xfrm>
            <a:off x="12063679" y="17739360"/>
            <a:ext cx="8131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Replies centre on a few authors</a:t>
            </a:r>
            <a:endParaRPr lang="en-US" sz="3200" dirty="0"/>
          </a:p>
        </p:txBody>
      </p:sp>
      <p:pic>
        <p:nvPicPr>
          <p:cNvPr id="42" name="Reply network figure" descr="Reply network of 62 accounts in three separate group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4999" y="18562320"/>
            <a:ext cx="4480560" cy="3920343"/>
          </a:xfrm>
          <a:prstGeom prst="rect">
            <a:avLst/>
          </a:prstGeom>
        </p:spPr>
      </p:pic>
      <p:sp>
        <p:nvSpPr>
          <p:cNvPr id="43" name="Network text"/>
          <p:cNvSpPr txBox="1"/>
          <p:nvPr/>
        </p:nvSpPr>
        <p:spPr>
          <a:xfrm>
            <a:off x="15858439" y="18608040"/>
            <a:ext cx="4291279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accounts, 60 reply links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density 0.016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groups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(32, 19 and 11 accounts)</a:t>
            </a:r>
            <a:endParaRPr lang="en-US" sz="2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replies go to the 3 authors of the selected posts (in-degree 29, 18 and 8)</a:t>
            </a:r>
            <a:endParaRPr lang="en-US" sz="2200" dirty="0"/>
          </a:p>
        </p:txBody>
      </p:sp>
      <p:sp>
        <p:nvSpPr>
          <p:cNvPr id="44" name="Network note"/>
          <p:cNvSpPr txBox="1"/>
          <p:nvPr/>
        </p:nvSpPr>
        <p:spPr>
          <a:xfrm>
            <a:off x="11194999" y="22539960"/>
            <a:ext cx="89547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show engagement, not agreement. Only 4 accounts had any betweenness (1 each), so there is little bridging.</a:t>
            </a:r>
            <a:endParaRPr lang="en-US" sz="2000" dirty="0"/>
          </a:p>
        </p:txBody>
      </p:sp>
      <p:sp>
        <p:nvSpPr>
          <p:cNvPr id="45" name="Conclusions card"/>
          <p:cNvSpPr/>
          <p:nvPr/>
        </p:nvSpPr>
        <p:spPr>
          <a:xfrm>
            <a:off x="914400" y="23682960"/>
            <a:ext cx="9594799" cy="507492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Conclusions heading"/>
          <p:cNvSpPr txBox="1"/>
          <p:nvPr/>
        </p:nvSpPr>
        <p:spPr>
          <a:xfrm>
            <a:off x="1280160" y="23865840"/>
            <a:ext cx="8863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7" name="Conclusions text"/>
          <p:cNvSpPr txBox="1"/>
          <p:nvPr/>
        </p:nvSpPr>
        <p:spPr>
          <a:xfrm>
            <a:off x="1280160" y="24688800"/>
            <a:ext cx="886327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RTO-search posts were more negative, and the association is statistically significant (V = 0.26).</a:t>
            </a:r>
            <a:endParaRPr lang="en-US" sz="28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gap is content mix: policy and political news for RTO; job adverts, appeals and repeated messages for WFH.</a:t>
            </a:r>
            <a:endParaRPr lang="en-US" sz="28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were weak and replies centred on three authors. Results describe the posts returned, not worker preferences.</a:t>
            </a:r>
            <a:endParaRPr lang="en-US" sz="2800" dirty="0"/>
          </a:p>
        </p:txBody>
      </p:sp>
      <p:sp>
        <p:nvSpPr>
          <p:cNvPr id="48" name="Limitations card"/>
          <p:cNvSpPr/>
          <p:nvPr/>
        </p:nvSpPr>
        <p:spPr>
          <a:xfrm>
            <a:off x="10874959" y="23682960"/>
            <a:ext cx="9594799" cy="507492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Limitations heading"/>
          <p:cNvSpPr txBox="1"/>
          <p:nvPr/>
        </p:nvSpPr>
        <p:spPr>
          <a:xfrm>
            <a:off x="11240719" y="23865840"/>
            <a:ext cx="8863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50" name="Limitations text"/>
          <p:cNvSpPr txBox="1"/>
          <p:nvPr/>
        </p:nvSpPr>
        <p:spPr>
          <a:xfrm>
            <a:off x="11240719" y="24688800"/>
            <a:ext cx="886327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Exact-phrase searches of the latest posts; RTO covers 25 Aug to 29 Sep, WFH only 15 to 29 Sep.</a:t>
            </a:r>
            <a:endParaRPr lang="en-US" sz="28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users are not representative; English filter uses language tags (345 posts had none).</a:t>
            </a:r>
            <a:endParaRPr lang="en-US" sz="2800" dirty="0"/>
          </a:p>
          <a:p>
            <a:pPr marL="304800" indent="-3048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sentiment misses sarcasm; the network is three hand-picked threads, two reply levels deep.</a:t>
            </a:r>
            <a:endParaRPr lang="en-US" sz="2800" dirty="0"/>
          </a:p>
        </p:txBody>
      </p:sp>
      <p:sp>
        <p:nvSpPr>
          <p:cNvPr id="51" name="Footer"/>
          <p:cNvSpPr txBox="1"/>
          <p:nvPr/>
        </p:nvSpPr>
        <p:spPr>
          <a:xfrm>
            <a:off x="914400" y="28940760"/>
            <a:ext cx="195553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data: </a:t>
            </a:r>
            <a:r>
              <a:rPr lang="en-US" sz="1700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https://github.com/AlexanderManalo19385596/comp3020-bluesky-rto-wfh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25 Poster">
  <a:themeElements>
    <a:clrScheme name="Group25 Poster">
      <a:dk1>
        <a:srgbClr val="1B2A41"/>
      </a:dk1>
      <a:lt1>
        <a:srgbClr val="FFFFFF"/>
      </a:lt1>
      <a:dk2>
        <a:srgbClr val="24405E"/>
      </a:dk2>
      <a:lt2>
        <a:srgbClr val="EDF2F6"/>
      </a:lt2>
      <a:accent1>
        <a:srgbClr val="1F7F8E"/>
      </a:accent1>
      <a:accent2>
        <a:srgbClr val="B4455C"/>
      </a:accent2>
      <a:accent3>
        <a:srgbClr val="5F6B7A"/>
      </a:accent3>
      <a:accent4>
        <a:srgbClr val="8F1423"/>
      </a:accent4>
      <a:accent5>
        <a:srgbClr val="D9A441"/>
      </a:accent5>
      <a:accent6>
        <a:srgbClr val="3C6E91"/>
      </a:accent6>
      <a:hlink>
        <a:srgbClr val="1F7F8E"/>
      </a:hlink>
      <a:folHlink>
        <a:srgbClr val="5F6B7A"/>
      </a:folHlink>
    </a:clrScheme>
    <a:fontScheme name="Group25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Macintosh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Group25 Poster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 vs return to office on Bluesky</dc:title>
  <dc:subject>PptxGenJS Presentation</dc:subject>
  <dc:creator>Group 25</dc:creator>
  <cp:lastModifiedBy>Alexander Manalo</cp:lastModifiedBy>
  <cp:revision>3</cp:revision>
  <dcterms:created xsi:type="dcterms:W3CDTF">2026-10-09T06:37:49Z</dcterms:created>
  <dcterms:modified xsi:type="dcterms:W3CDTF">2026-10-09T07:51:54Z</dcterms:modified>
</cp:coreProperties>
</file>